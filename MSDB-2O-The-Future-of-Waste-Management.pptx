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4630400" cy="8229600"/>
  <p:notesSz cx="8229600" cy="14630400"/>
  <p:embeddedFontLst>
    <p:embeddedFont>
      <p:font typeface="Fraunces Extra Bold"/>
      <p:regular r:id="rId12"/>
    </p:embeddedFont>
    <p:embeddedFont>
      <p:font typeface="Fraunces Extra Bold"/>
      <p:regular r:id="rId13"/>
    </p:embeddedFont>
    <p:embeddedFont>
      <p:font typeface="Nobile"/>
      <p:regular r:id="rId14"/>
    </p:embeddedFont>
    <p:embeddedFont>
      <p:font typeface="Nobile"/>
      <p:regular r:id="rId15"/>
    </p:embeddedFont>
    <p:embeddedFont>
      <p:font typeface="Nobile"/>
      <p:regular r:id="rId16"/>
    </p:embeddedFont>
    <p:embeddedFont>
      <p:font typeface="Nobile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EEE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F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mailto:dharanisara7@gmail.com" TargetMode="External"/><Relationship Id="rId3" Type="http://schemas.openxmlformats.org/officeDocument/2006/relationships/hyperlink" Target="mailto:kkiru0812@gmail.com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6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100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MSDB 2.O : The Future of Waste Management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26779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Transforming urban waste into a sustainable ecosystem through mobile, solar-powered IoT technology. The Madurai Smart Drop Booth turns citizen participation into measurable environmental impact.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639485"/>
            <a:ext cx="7594640" cy="6933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Smart Engineering at Scale</a:t>
            </a:r>
            <a:endParaRPr lang="en-US" sz="4350" dirty="0"/>
          </a:p>
        </p:txBody>
      </p:sp>
      <p:sp>
        <p:nvSpPr>
          <p:cNvPr id="3" name="Text 1"/>
          <p:cNvSpPr/>
          <p:nvPr/>
        </p:nvSpPr>
        <p:spPr>
          <a:xfrm>
            <a:off x="776526" y="1766888"/>
            <a:ext cx="13077349" cy="3511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A sophisticated yet affordable IoT ecosystem built for real-world deployment in urban environments.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76526" y="2362200"/>
            <a:ext cx="6430089" cy="2505432"/>
          </a:xfrm>
          <a:prstGeom prst="roundRect">
            <a:avLst>
              <a:gd name="adj" fmla="val 7971"/>
            </a:avLst>
          </a:prstGeom>
          <a:solidFill>
            <a:srgbClr val="E8F3E8"/>
          </a:solidFill>
          <a:ln/>
        </p:spPr>
      </p:sp>
      <p:sp>
        <p:nvSpPr>
          <p:cNvPr id="5" name="Shape 3"/>
          <p:cNvSpPr/>
          <p:nvPr/>
        </p:nvSpPr>
        <p:spPr>
          <a:xfrm>
            <a:off x="998339" y="2584013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43895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81457" y="2767013"/>
            <a:ext cx="299442" cy="2994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98339" y="346674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The Brain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8339" y="3943588"/>
            <a:ext cx="5986463" cy="702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Raspberry Pi 4 running Python-based logic for intelligent waste processing and data management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7423666" y="2362200"/>
            <a:ext cx="6430208" cy="2505432"/>
          </a:xfrm>
          <a:prstGeom prst="roundRect">
            <a:avLst>
              <a:gd name="adj" fmla="val 7971"/>
            </a:avLst>
          </a:prstGeom>
          <a:solidFill>
            <a:srgbClr val="E8F3E8"/>
          </a:solidFill>
          <a:ln/>
        </p:spPr>
      </p:sp>
      <p:sp>
        <p:nvSpPr>
          <p:cNvPr id="10" name="Shape 7"/>
          <p:cNvSpPr/>
          <p:nvPr/>
        </p:nvSpPr>
        <p:spPr>
          <a:xfrm>
            <a:off x="7645479" y="2584013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43895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28598" y="2767013"/>
            <a:ext cx="299442" cy="2994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45479" y="3466743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Precision Sensors</a:t>
            </a:r>
            <a:endParaRPr lang="en-US" sz="2150" dirty="0"/>
          </a:p>
        </p:txBody>
      </p:sp>
      <p:sp>
        <p:nvSpPr>
          <p:cNvPr id="13" name="Text 9"/>
          <p:cNvSpPr/>
          <p:nvPr/>
        </p:nvSpPr>
        <p:spPr>
          <a:xfrm>
            <a:off x="7645479" y="3943588"/>
            <a:ext cx="5986582" cy="702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Load cells for accurate weight measurement and ultrasonic sensors for real-time bin level monitoring</a:t>
            </a:r>
            <a:endParaRPr lang="en-US" sz="1700" dirty="0"/>
          </a:p>
        </p:txBody>
      </p:sp>
      <p:sp>
        <p:nvSpPr>
          <p:cNvPr id="14" name="Shape 10"/>
          <p:cNvSpPr/>
          <p:nvPr/>
        </p:nvSpPr>
        <p:spPr>
          <a:xfrm>
            <a:off x="776526" y="5084683"/>
            <a:ext cx="6430089" cy="2505432"/>
          </a:xfrm>
          <a:prstGeom prst="roundRect">
            <a:avLst>
              <a:gd name="adj" fmla="val 7971"/>
            </a:avLst>
          </a:prstGeom>
          <a:solidFill>
            <a:srgbClr val="E8F3E8"/>
          </a:solidFill>
          <a:ln/>
        </p:spPr>
      </p:sp>
      <p:sp>
        <p:nvSpPr>
          <p:cNvPr id="15" name="Shape 11"/>
          <p:cNvSpPr/>
          <p:nvPr/>
        </p:nvSpPr>
        <p:spPr>
          <a:xfrm>
            <a:off x="998339" y="5306497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43895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1457" y="5489496"/>
            <a:ext cx="299442" cy="2994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98339" y="6189226"/>
            <a:ext cx="2773680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Cloud Connectivity</a:t>
            </a:r>
            <a:endParaRPr lang="en-US" sz="2150" dirty="0"/>
          </a:p>
        </p:txBody>
      </p:sp>
      <p:sp>
        <p:nvSpPr>
          <p:cNvPr id="18" name="Text 13"/>
          <p:cNvSpPr/>
          <p:nvPr/>
        </p:nvSpPr>
        <p:spPr>
          <a:xfrm>
            <a:off x="998339" y="6666071"/>
            <a:ext cx="5986463" cy="702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Secure REST API synchronizes user rewards and tracking data to cloud infrastructure instantly</a:t>
            </a:r>
            <a:endParaRPr lang="en-US" sz="1700" dirty="0"/>
          </a:p>
        </p:txBody>
      </p:sp>
      <p:sp>
        <p:nvSpPr>
          <p:cNvPr id="19" name="Shape 14"/>
          <p:cNvSpPr/>
          <p:nvPr/>
        </p:nvSpPr>
        <p:spPr>
          <a:xfrm>
            <a:off x="7423666" y="5084683"/>
            <a:ext cx="6430208" cy="2505432"/>
          </a:xfrm>
          <a:prstGeom prst="roundRect">
            <a:avLst>
              <a:gd name="adj" fmla="val 7971"/>
            </a:avLst>
          </a:prstGeom>
          <a:solidFill>
            <a:srgbClr val="E8F3E8"/>
          </a:solidFill>
          <a:ln/>
        </p:spPr>
      </p:sp>
      <p:sp>
        <p:nvSpPr>
          <p:cNvPr id="20" name="Shape 15"/>
          <p:cNvSpPr/>
          <p:nvPr/>
        </p:nvSpPr>
        <p:spPr>
          <a:xfrm>
            <a:off x="7645479" y="5306497"/>
            <a:ext cx="665678" cy="665678"/>
          </a:xfrm>
          <a:prstGeom prst="roundRect">
            <a:avLst>
              <a:gd name="adj" fmla="val 13734997"/>
            </a:avLst>
          </a:prstGeom>
          <a:solidFill>
            <a:srgbClr val="43895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828598" y="5489496"/>
            <a:ext cx="299442" cy="2994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45479" y="6189226"/>
            <a:ext cx="278237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Autonomous Power</a:t>
            </a:r>
            <a:endParaRPr lang="en-US" sz="2150" dirty="0"/>
          </a:p>
        </p:txBody>
      </p:sp>
      <p:sp>
        <p:nvSpPr>
          <p:cNvPr id="23" name="Text 17"/>
          <p:cNvSpPr/>
          <p:nvPr/>
        </p:nvSpPr>
        <p:spPr>
          <a:xfrm>
            <a:off x="7645479" y="6666071"/>
            <a:ext cx="5986582" cy="7022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17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100W solar panels enable 24/7 operation without grid dependency, perfect for urban deployment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892260" y="445294"/>
            <a:ext cx="5542598" cy="491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50"/>
              </a:lnSpc>
              <a:buNone/>
            </a:pPr>
            <a:r>
              <a:rPr lang="en-US" sz="30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 Seamless User Experience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260" y="1222296"/>
            <a:ext cx="6915507" cy="38597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98769" y="2767608"/>
            <a:ext cx="2475548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How Citizens Participate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9198769" y="3121938"/>
            <a:ext cx="3546753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The three-step process makes waste disposal rewarding and accessible to everyone.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892260" y="5327094"/>
            <a:ext cx="1571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92260" y="5571411"/>
            <a:ext cx="3542705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8" name="Text 5"/>
          <p:cNvSpPr/>
          <p:nvPr/>
        </p:nvSpPr>
        <p:spPr>
          <a:xfrm>
            <a:off x="1892260" y="5695712"/>
            <a:ext cx="1964769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Scan QR Code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892260" y="6006465"/>
            <a:ext cx="3542705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Open app and scan booth identifier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43788" y="5327094"/>
            <a:ext cx="1571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543788" y="5571411"/>
            <a:ext cx="3542705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2" name="Text 9"/>
          <p:cNvSpPr/>
          <p:nvPr/>
        </p:nvSpPr>
        <p:spPr>
          <a:xfrm>
            <a:off x="5543788" y="5695712"/>
            <a:ext cx="1964769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Drop Waste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543788" y="6006465"/>
            <a:ext cx="3542705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Deposit properly segregated materials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95316" y="5327094"/>
            <a:ext cx="157163" cy="1964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195316" y="5571411"/>
            <a:ext cx="3542705" cy="22860"/>
          </a:xfrm>
          <a:prstGeom prst="rect">
            <a:avLst/>
          </a:prstGeom>
          <a:solidFill>
            <a:srgbClr val="438951"/>
          </a:solidFill>
          <a:ln/>
        </p:spPr>
      </p:sp>
      <p:sp>
        <p:nvSpPr>
          <p:cNvPr id="16" name="Text 13"/>
          <p:cNvSpPr/>
          <p:nvPr/>
        </p:nvSpPr>
        <p:spPr>
          <a:xfrm>
            <a:off x="9195316" y="5695712"/>
            <a:ext cx="1964769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Get Points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195316" y="6006465"/>
            <a:ext cx="3542705" cy="212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Instant Green Credits appear in wallet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1892260" y="6538204"/>
            <a:ext cx="10845760" cy="27265"/>
          </a:xfrm>
          <a:prstGeom prst="rect">
            <a:avLst/>
          </a:prstGeom>
          <a:solidFill>
            <a:srgbClr val="405449">
              <a:alpha val="5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1892260" y="6687979"/>
            <a:ext cx="5368409" cy="1096328"/>
          </a:xfrm>
          <a:prstGeom prst="roundRect">
            <a:avLst>
              <a:gd name="adj" fmla="val 1290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072283" y="6868001"/>
            <a:ext cx="1964769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B2C Model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2072283" y="7178754"/>
            <a:ext cx="5008364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Points redeemable at partner Madurai shops, creating local economic circulation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369492" y="6687979"/>
            <a:ext cx="5368528" cy="1096328"/>
          </a:xfrm>
          <a:prstGeom prst="roundRect">
            <a:avLst>
              <a:gd name="adj" fmla="val 12904"/>
            </a:avLst>
          </a:prstGeom>
          <a:solidFill>
            <a:srgbClr val="FAFFFA"/>
          </a:solidFill>
          <a:ln w="22860">
            <a:solidFill>
              <a:srgbClr val="CED9C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49515" y="6868001"/>
            <a:ext cx="1964769" cy="245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5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B2B Revenue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549515" y="7178754"/>
            <a:ext cx="5008483" cy="425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100% segregated waste streams sold to industrial recyclers at premium rates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14795"/>
            <a:ext cx="1200888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Smart Solutions for Real-World Problems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377202"/>
            <a:ext cx="2411968" cy="24119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93790" y="5072658"/>
            <a:ext cx="299942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AI-Powered Security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5563076"/>
            <a:ext cx="4158615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Computer vision algorithms detect non-waste items and prevent fraudulent point accumulation in real-time</a:t>
            </a:r>
            <a:endParaRPr lang="en-US" sz="17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5893" y="2377202"/>
            <a:ext cx="2411968" cy="24119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235893" y="5072658"/>
            <a:ext cx="31039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Cost-Effective Design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235893" y="556307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Prototype: ₹52,800 | Mass Production: ₹35,000 per unit, enabling scalable city-wide deployment</a:t>
            </a:r>
            <a:endParaRPr lang="en-US" sz="17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7995" y="2377202"/>
            <a:ext cx="2411968" cy="24119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677995" y="50726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405449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Phased Rollout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677995" y="5563076"/>
            <a:ext cx="415861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Starting with Anna Nagar district, Madurai, then expanding to full city coverage based on demand data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B4540"/>
                </a:solidFill>
                <a:latin typeface="Fraunces Extra Bold" pitchFamily="34" charset="0"/>
                <a:ea typeface="Fraunces Extra Bold" pitchFamily="34" charset="-122"/>
                <a:cs typeface="Fraunces Extra Bold" pitchFamily="34" charset="-120"/>
              </a:rPr>
              <a:t>Together for a Cleaner Madurai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Team Name : THE NEURAL DUO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Rajadharani Marimuthu | 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dharanisara7@gmail.com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801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Kiruthiga Seenivasan  |  </a:t>
            </a:r>
            <a:pPr algn="l" indent="0" marL="0">
              <a:lnSpc>
                <a:spcPts val="2850"/>
              </a:lnSpc>
              <a:buNone/>
            </a:pPr>
            <a:r>
              <a:rPr lang="en-US" sz="1750" u="sng" dirty="0">
                <a:solidFill>
                  <a:srgbClr val="438951"/>
                </a:solidFill>
                <a:latin typeface="Nobile" pitchFamily="34" charset="0"/>
                <a:ea typeface="Nobile" pitchFamily="34" charset="-122"/>
                <a:cs typeface="Nobil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kkiru0812@gmail.com</a:t>
            </a:r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405449"/>
                </a:solidFill>
                <a:latin typeface="Nobile" pitchFamily="34" charset="0"/>
                <a:ea typeface="Nobile" pitchFamily="34" charset="-122"/>
                <a:cs typeface="Nobile" pitchFamily="34" charset="-120"/>
              </a:rPr>
              <a:t> 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2026-02-28T02:47:30Z</dcterms:created>
  <dcterms:modified xsi:type="dcterms:W3CDTF">2026-02-28T02:47:30Z</dcterms:modified>
</cp:coreProperties>
</file>